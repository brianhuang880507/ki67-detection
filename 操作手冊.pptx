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5CA9B-2F26-4CF2-B2B5-5CB1E4239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BCA576-575B-475C-98A1-AAC57DAA8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DE6CDA-B633-496F-9A3A-1D4F61143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E24F07-0F03-4D83-A3E6-A159E962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704484-DEBE-4C13-A6E4-BC927FF0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96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ED19B4-7923-48F6-992D-4DC7C544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EF81EC-856E-4054-B2DC-2FDF1659B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476D0C-3ECE-4090-8BA5-6DAC1C1C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9F777C-3939-49C2-8C3A-5E8DECD9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7B5969-9657-4526-90D1-88BDD2CF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643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0A0A09-3CB7-448E-9798-55F909EF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D2AB38-DD98-4AE5-AFD6-948D00D20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53A929-EA6B-43F1-8CBA-9873B437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761207-F8E3-468A-A0FD-FA76E03E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682D37-0160-4F0E-9046-CEB43F93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F7F7F1-2D4E-42B7-B640-1FB59D54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C3AEF7-C359-465E-9B2A-C915B42C2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49933D-16F8-4CA2-B031-74EFCAAB1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8348BE-9D6D-43DC-8D10-A9DFB39C3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DA5DB58-005E-49B7-9C2F-ED05C5086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BF9443-C832-4BF1-BFF8-A82F60D6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051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4623AF-3D62-48DA-9F6B-846A29D7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C8E680-72BF-445D-A2C1-90ED94B4A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71D117-19AB-4920-A589-B74681F9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28A9D4E-EA13-4F98-A91E-B0D128AD9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2CB0D39-6F11-443A-968C-3A0125157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13EF584-8C6B-4B94-A656-523B438F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A4F6036-1569-404C-A0AA-A2F482FE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EFAE1F2-79B0-481B-941C-1D0E88417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59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CDFE85-0B19-40FE-A86A-9DD8BB43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423D63C-6188-46AB-8B3E-A06088FB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8309203-FBD0-4262-ADDD-17CDE5571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89B250C-93C6-49F1-A99B-D9F610D2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87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B04B50-D886-4F7B-9C1D-C744F4CA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3613C47-3B9E-4E2A-AAD3-E6F6153F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7BBEDF-FC4C-4B36-B677-8AAD3650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2872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FECBC8-F96C-4296-8A41-FA36C336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0F1E58-7ACA-4C22-8CD3-BF2ACBECD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1981E0-0F24-41A2-BF19-B0D8AF083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E2AF62-0D23-4DBB-ADEF-3CD6AC0DA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1564EE1-761C-4B89-AF74-953CAAE4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251DF54-9642-42AE-9074-5F6D595C7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38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7A64E-21A1-40F4-8FC8-9A4C29308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4FE86F5-1FBF-4671-BDE1-249FB6A63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74B0D2-5D94-4E49-AF5C-5FF2BD528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C11882-9315-4ADB-91A7-C2BAAA7EE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C2CEA8-ADFE-4C97-AB1C-C3C1D3D9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9873E6-CCF3-4350-8E97-F56E59AB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5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118A34-EA12-49E6-BC55-304D2B67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D788FD9-EF6E-44F6-9207-A67AA5690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31FE27-AE2F-4A6F-B753-03CE4D26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955B66-4EA8-41C7-B75B-A0C53A34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69EC27-CD6D-4815-94F5-47C2B29E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30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3D4D1BD-FDD5-4330-9C1E-5F53399D1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16C3D58-F3B1-4989-93EA-F9D4A236F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CF85AD-E35B-41C2-8CE0-EE640486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C568AD-19B1-4455-A237-9D7F088A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862767-C3C4-4836-90E8-848DAF9D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963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895494F-9962-4C3D-B371-A5881528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61B424-81A8-456C-AE10-1DD44CA2D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71A84A-52EB-4EC6-97B8-F80ED684E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51B46-31B1-4D52-9704-86ECFA0E59B2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BA2691-931A-4B70-86AB-723C9F0F9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04A582-00AC-442C-91F3-8989B03EB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D89C1-14AD-49DC-9EE8-126B5BAF5B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56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D40442E-D792-48B4-8AC5-85460194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更新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76CF10C-8467-4B4E-9F6C-915834F2C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輸入</a:t>
            </a:r>
            <a:r>
              <a:rPr lang="en-US" altLang="zh-TW" dirty="0"/>
              <a:t>win + r</a:t>
            </a:r>
            <a:r>
              <a:rPr lang="zh-TW" altLang="en-US" dirty="0"/>
              <a:t>開啟</a:t>
            </a:r>
            <a:r>
              <a:rPr lang="en-US" altLang="zh-TW" dirty="0"/>
              <a:t>“</a:t>
            </a:r>
            <a:r>
              <a:rPr lang="zh-TW" altLang="en-US" dirty="0"/>
              <a:t>執行</a:t>
            </a:r>
            <a:r>
              <a:rPr lang="en-US" altLang="zh-TW" dirty="0"/>
              <a:t>”</a:t>
            </a:r>
            <a:r>
              <a:rPr lang="zh-TW" altLang="en-US" dirty="0"/>
              <a:t>，輸入</a:t>
            </a:r>
            <a:r>
              <a:rPr lang="en-US" altLang="zh-TW" dirty="0" err="1"/>
              <a:t>cmd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輸入</a:t>
            </a:r>
            <a:r>
              <a:rPr lang="en-US" altLang="zh-TW" dirty="0"/>
              <a:t>cd C:\Users\&lt;</a:t>
            </a:r>
            <a:r>
              <a:rPr lang="zh-TW" altLang="en-US" dirty="0"/>
              <a:t>使用者名稱</a:t>
            </a:r>
            <a:r>
              <a:rPr lang="en-US" altLang="zh-TW" dirty="0"/>
              <a:t>&gt;\Desktop\Ki67-Detection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輸入</a:t>
            </a:r>
            <a:r>
              <a:rPr lang="en-US" altLang="zh-TW" dirty="0"/>
              <a:t>git pull origin main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6011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D40442E-D792-48B4-8AC5-85460194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開啟專案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76CF10C-8467-4B4E-9F6C-915834F2C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若未在專案位置，輸入</a:t>
            </a:r>
            <a:r>
              <a:rPr lang="en-US" altLang="zh-TW" dirty="0"/>
              <a:t>cd C:\Users\&lt;</a:t>
            </a:r>
            <a:r>
              <a:rPr lang="zh-TW" altLang="en-US" dirty="0"/>
              <a:t>使用者名稱</a:t>
            </a:r>
            <a:r>
              <a:rPr lang="en-US" altLang="zh-TW" dirty="0"/>
              <a:t>&gt;\Desktop\Ki67-Detection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輸入</a:t>
            </a:r>
            <a:r>
              <a:rPr lang="en-US" altLang="zh-TW" dirty="0" err="1"/>
              <a:t>conda</a:t>
            </a:r>
            <a:r>
              <a:rPr lang="en-US" altLang="zh-TW" dirty="0"/>
              <a:t> active ki67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/>
              <a:t>Python app.py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8003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43A3A8-F8A7-4096-B418-17D9E6E47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匯入檔案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B2E9FD-763E-4852-94D4-E1F85211E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63208"/>
            <a:ext cx="6204041" cy="4124227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AE56D80D-8BF8-4E39-9447-65A756EDEA4C}"/>
              </a:ext>
            </a:extLst>
          </p:cNvPr>
          <p:cNvSpPr/>
          <p:nvPr/>
        </p:nvSpPr>
        <p:spPr>
          <a:xfrm>
            <a:off x="659876" y="2092751"/>
            <a:ext cx="1027522" cy="518474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1787070-97BA-4443-897F-B7E62DD5E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4308" y="5096031"/>
            <a:ext cx="3859491" cy="1080932"/>
          </a:xfrm>
        </p:spPr>
        <p:txBody>
          <a:bodyPr>
            <a:normAutofit/>
          </a:bodyPr>
          <a:lstStyle/>
          <a:p>
            <a:r>
              <a:rPr lang="zh-TW" altLang="en-US" sz="1800" dirty="0"/>
              <a:t>將待測資料打包放入</a:t>
            </a:r>
            <a:r>
              <a:rPr lang="en-US" altLang="zh-TW" sz="1800" dirty="0"/>
              <a:t>Ki67-Detection\data\input</a:t>
            </a:r>
          </a:p>
          <a:p>
            <a:r>
              <a:rPr lang="zh-TW" altLang="en-US" sz="1800" dirty="0"/>
              <a:t>打包格式請參考上圖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A6C0690-5AD5-4C9D-8E47-45F692C95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565" y="2092751"/>
            <a:ext cx="4562940" cy="275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37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C6B47-CDD5-4D1B-A073-A0718BCBF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分析設定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2EAA00-93AF-4F40-A7F9-1244F644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64328"/>
            <a:ext cx="5806982" cy="386027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73CCAF9-BB5C-442C-BF89-2EFD8265E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557" y="1027906"/>
            <a:ext cx="3067478" cy="3581900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F62211B-35FE-465A-9EAC-A654E384E2FD}"/>
              </a:ext>
            </a:extLst>
          </p:cNvPr>
          <p:cNvSpPr/>
          <p:nvPr/>
        </p:nvSpPr>
        <p:spPr>
          <a:xfrm>
            <a:off x="659876" y="2007767"/>
            <a:ext cx="1027522" cy="518474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04C854CA-454C-4E72-BE2C-967F1148F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9749" y="4812277"/>
            <a:ext cx="4530293" cy="1793499"/>
          </a:xfrm>
        </p:spPr>
        <p:txBody>
          <a:bodyPr>
            <a:normAutofit fontScale="85000" lnSpcReduction="10000"/>
          </a:bodyPr>
          <a:lstStyle/>
          <a:p>
            <a:r>
              <a:rPr lang="zh-TW" altLang="en-US" sz="1800" dirty="0"/>
              <a:t>核來源</a:t>
            </a:r>
            <a:r>
              <a:rPr lang="en-US" altLang="zh-TW" sz="1800" dirty="0"/>
              <a:t>:</a:t>
            </a:r>
            <a:r>
              <a:rPr lang="zh-TW" altLang="en-US" sz="1800" dirty="0"/>
              <a:t> 分析核的檔案格式，若無</a:t>
            </a:r>
            <a:r>
              <a:rPr lang="en-US" altLang="zh-TW" sz="1800" dirty="0"/>
              <a:t>DAPI</a:t>
            </a:r>
            <a:r>
              <a:rPr lang="zh-TW" altLang="en-US" sz="1800" dirty="0"/>
              <a:t>則改用</a:t>
            </a:r>
            <a:r>
              <a:rPr lang="en-US" altLang="zh-TW" sz="1800" dirty="0"/>
              <a:t>PC</a:t>
            </a:r>
          </a:p>
          <a:p>
            <a:r>
              <a:rPr lang="en-US" altLang="zh-TW" sz="1800" dirty="0"/>
              <a:t>Ki67 Backend: Ki67 GT</a:t>
            </a:r>
            <a:r>
              <a:rPr lang="zh-TW" altLang="en-US" sz="1800" dirty="0"/>
              <a:t>分析方法，預設</a:t>
            </a:r>
            <a:r>
              <a:rPr lang="en-US" altLang="zh-TW" sz="1800" dirty="0" err="1"/>
              <a:t>pyimagej</a:t>
            </a:r>
            <a:endParaRPr lang="en-US" altLang="zh-TW" sz="1800" dirty="0"/>
          </a:p>
          <a:p>
            <a:r>
              <a:rPr lang="zh-TW" altLang="en-US" sz="1800" dirty="0"/>
              <a:t>分析方法</a:t>
            </a:r>
            <a:r>
              <a:rPr lang="en-US" altLang="zh-TW" sz="1800" dirty="0"/>
              <a:t>: </a:t>
            </a:r>
            <a:r>
              <a:rPr lang="zh-TW" altLang="en-US" sz="1800" dirty="0"/>
              <a:t>特徵參數提取方法，</a:t>
            </a:r>
            <a:r>
              <a:rPr lang="zh-TW" altLang="en-US" sz="1800" dirty="0">
                <a:solidFill>
                  <a:srgbClr val="FF0000"/>
                </a:solidFill>
              </a:rPr>
              <a:t>目前用</a:t>
            </a:r>
            <a:r>
              <a:rPr lang="en-US" altLang="zh-TW" sz="1800" dirty="0">
                <a:solidFill>
                  <a:srgbClr val="FF0000"/>
                </a:solidFill>
              </a:rPr>
              <a:t>python</a:t>
            </a:r>
            <a:r>
              <a:rPr lang="zh-TW" altLang="en-US" sz="1800" dirty="0">
                <a:solidFill>
                  <a:srgbClr val="FF0000"/>
                </a:solidFill>
              </a:rPr>
              <a:t>，需改動</a:t>
            </a:r>
            <a:r>
              <a:rPr lang="en-US" altLang="zh-TW" sz="1800" dirty="0">
                <a:solidFill>
                  <a:srgbClr val="FF0000"/>
                </a:solidFill>
              </a:rPr>
              <a:t> </a:t>
            </a:r>
          </a:p>
          <a:p>
            <a:r>
              <a:rPr lang="zh-TW" altLang="en-US" sz="1800" dirty="0"/>
              <a:t>螢光分析</a:t>
            </a:r>
            <a:r>
              <a:rPr lang="en-US" altLang="zh-TW" sz="1800" dirty="0"/>
              <a:t>:</a:t>
            </a:r>
            <a:r>
              <a:rPr lang="zh-TW" altLang="en-US" sz="1800" dirty="0"/>
              <a:t> </a:t>
            </a:r>
            <a:r>
              <a:rPr lang="en-US" altLang="zh-TW" sz="1800" dirty="0"/>
              <a:t>IDO</a:t>
            </a:r>
            <a:r>
              <a:rPr lang="zh-TW" altLang="en-US" sz="1800" dirty="0"/>
              <a:t>提取</a:t>
            </a:r>
            <a:endParaRPr lang="en-US" altLang="zh-TW" sz="1800" dirty="0"/>
          </a:p>
          <a:p>
            <a:r>
              <a:rPr lang="en-US" altLang="zh-TW" sz="1800" dirty="0"/>
              <a:t>Ki67 </a:t>
            </a:r>
            <a:r>
              <a:rPr lang="zh-TW" altLang="en-US" sz="1800" dirty="0"/>
              <a:t>分析</a:t>
            </a:r>
            <a:r>
              <a:rPr lang="en-US" altLang="zh-TW" sz="1800" dirty="0"/>
              <a:t>: </a:t>
            </a:r>
            <a:r>
              <a:rPr lang="zh-TW" altLang="en-US" sz="1800" dirty="0"/>
              <a:t>預測</a:t>
            </a:r>
            <a:r>
              <a:rPr lang="en-US" altLang="zh-TW" sz="1800" dirty="0"/>
              <a:t>Ki67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67249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A43189-494C-462C-B287-B23EE049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F4235DB-1595-49C9-9CE7-FA3873D88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1914"/>
            <a:ext cx="7530614" cy="5006086"/>
          </a:xfr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57560E06-6CE1-474F-BBD5-98868BB3C31B}"/>
              </a:ext>
            </a:extLst>
          </p:cNvPr>
          <p:cNvSpPr/>
          <p:nvPr/>
        </p:nvSpPr>
        <p:spPr>
          <a:xfrm>
            <a:off x="6495067" y="2809045"/>
            <a:ext cx="1178351" cy="518474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ADD42F-5219-4A43-9726-BD5089A22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113" y="1968527"/>
            <a:ext cx="2057687" cy="771633"/>
          </a:xfrm>
          <a:prstGeom prst="rect">
            <a:avLst/>
          </a:prstGeom>
        </p:spPr>
      </p:pic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189DBC79-5E51-458A-840C-CC5E01987C28}"/>
              </a:ext>
            </a:extLst>
          </p:cNvPr>
          <p:cNvSpPr txBox="1">
            <a:spLocks/>
          </p:cNvSpPr>
          <p:nvPr/>
        </p:nvSpPr>
        <p:spPr>
          <a:xfrm>
            <a:off x="8889476" y="2867909"/>
            <a:ext cx="3029931" cy="400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dirty="0"/>
              <a:t>開始分析、中指、重新開始</a:t>
            </a:r>
          </a:p>
        </p:txBody>
      </p:sp>
    </p:spTree>
    <p:extLst>
      <p:ext uri="{BB962C8B-B14F-4D97-AF65-F5344CB8AC3E}">
        <p14:creationId xmlns:p14="http://schemas.microsoft.com/office/powerpoint/2010/main" val="161012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A4D2F35F-F539-45DC-9982-B6D5BE731D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613417"/>
              </p:ext>
            </p:extLst>
          </p:nvPr>
        </p:nvGraphicFramePr>
        <p:xfrm>
          <a:off x="103695" y="48820"/>
          <a:ext cx="11849493" cy="6760359"/>
        </p:xfrm>
        <a:graphic>
          <a:graphicData uri="http://schemas.openxmlformats.org/drawingml/2006/table">
            <a:tbl>
              <a:tblPr/>
              <a:tblGrid>
                <a:gridCol w="1670051">
                  <a:extLst>
                    <a:ext uri="{9D8B030D-6E8A-4147-A177-3AD203B41FA5}">
                      <a16:colId xmlns:a16="http://schemas.microsoft.com/office/drawing/2014/main" val="676846465"/>
                    </a:ext>
                  </a:extLst>
                </a:gridCol>
                <a:gridCol w="3354706">
                  <a:extLst>
                    <a:ext uri="{9D8B030D-6E8A-4147-A177-3AD203B41FA5}">
                      <a16:colId xmlns:a16="http://schemas.microsoft.com/office/drawing/2014/main" val="2940754838"/>
                    </a:ext>
                  </a:extLst>
                </a:gridCol>
                <a:gridCol w="6824736">
                  <a:extLst>
                    <a:ext uri="{9D8B030D-6E8A-4147-A177-3AD203B41FA5}">
                      <a16:colId xmlns:a16="http://schemas.microsoft.com/office/drawing/2014/main" val="1424022868"/>
                    </a:ext>
                  </a:extLst>
                </a:gridCol>
              </a:tblGrid>
              <a:tr h="251605">
                <a:tc>
                  <a:txBody>
                    <a:bodyPr/>
                    <a:lstStyle/>
                    <a:p>
                      <a:r>
                        <a:rPr lang="zh-TW" altLang="en-US" sz="1600"/>
                        <a:t>特徵參數名稱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定義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程式定義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876157"/>
                  </a:ext>
                </a:extLst>
              </a:tr>
              <a:tr h="566217">
                <a:tc>
                  <a:txBody>
                    <a:bodyPr/>
                    <a:lstStyle/>
                    <a:p>
                      <a:r>
                        <a:rPr lang="en-US" sz="1600" dirty="0"/>
                        <a:t>Area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ROI </a:t>
                      </a:r>
                      <a:r>
                        <a:rPr lang="zh-TW" altLang="en-US" sz="1600" dirty="0"/>
                        <a:t>內像素數量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area = </a:t>
                      </a:r>
                      <a:r>
                        <a:rPr lang="en-US" sz="1600" dirty="0" err="1"/>
                        <a:t>count_nonzero</a:t>
                      </a:r>
                      <a:r>
                        <a:rPr lang="en-US" sz="1600" dirty="0"/>
                        <a:t>(mask)；</a:t>
                      </a:r>
                    </a:p>
                    <a:p>
                      <a:r>
                        <a:rPr lang="en-US" sz="1600" dirty="0" err="1"/>
                        <a:t>Area_nuc</a:t>
                      </a:r>
                      <a:r>
                        <a:rPr lang="en-US" sz="1600" dirty="0"/>
                        <a:t> </a:t>
                      </a:r>
                      <a:r>
                        <a:rPr lang="zh-TW" altLang="en-US" sz="1600" dirty="0"/>
                        <a:t>為 </a:t>
                      </a:r>
                      <a:r>
                        <a:rPr lang="en-US" sz="1600" dirty="0"/>
                        <a:t>nucleus mask </a:t>
                      </a:r>
                      <a:r>
                        <a:rPr lang="zh-TW" altLang="en-US" sz="1600" dirty="0"/>
                        <a:t>面積，</a:t>
                      </a:r>
                      <a:r>
                        <a:rPr lang="en-US" sz="1600" dirty="0" err="1"/>
                        <a:t>Area_cyto</a:t>
                      </a:r>
                      <a:r>
                        <a:rPr lang="en-US" sz="1600" dirty="0"/>
                        <a:t> </a:t>
                      </a:r>
                      <a:r>
                        <a:rPr lang="zh-TW" altLang="en-US" sz="1600" dirty="0"/>
                        <a:t>為 </a:t>
                      </a:r>
                      <a:r>
                        <a:rPr lang="en-US" sz="1600" dirty="0"/>
                        <a:t>whole-cell mask </a:t>
                      </a:r>
                      <a:r>
                        <a:rPr lang="zh-TW" altLang="en-US" sz="1600" dirty="0"/>
                        <a:t>面積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374111"/>
                  </a:ext>
                </a:extLst>
              </a:tr>
              <a:tr h="396351">
                <a:tc>
                  <a:txBody>
                    <a:bodyPr/>
                    <a:lstStyle/>
                    <a:p>
                      <a:r>
                        <a:rPr lang="en-US" sz="1600"/>
                        <a:t>Perimeter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ROI </a:t>
                      </a:r>
                      <a:r>
                        <a:rPr lang="zh-TW" altLang="en-US" sz="1600"/>
                        <a:t>邊界長度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skimage.measure.regionprops(mask).perimeter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09072"/>
                  </a:ext>
                </a:extLst>
              </a:tr>
              <a:tr h="396351">
                <a:tc>
                  <a:txBody>
                    <a:bodyPr/>
                    <a:lstStyle/>
                    <a:p>
                      <a:r>
                        <a:rPr lang="en-US" sz="1600"/>
                        <a:t>Convex Perimeter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ROI </a:t>
                      </a:r>
                      <a:r>
                        <a:rPr lang="zh-TW" altLang="en-US" sz="1600"/>
                        <a:t>凸包外框周長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convex_hull_image(mask) </a:t>
                      </a:r>
                      <a:r>
                        <a:rPr lang="zh-TW" altLang="en-US" sz="1600"/>
                        <a:t>後取 </a:t>
                      </a:r>
                      <a:r>
                        <a:rPr lang="en-US" sz="1600"/>
                        <a:t>regionprops(...).perimeter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141950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Circular Diameter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與 </a:t>
                      </a:r>
                      <a:r>
                        <a:rPr lang="en-US" altLang="zh-TW" sz="1600"/>
                        <a:t>ROI </a:t>
                      </a:r>
                      <a:r>
                        <a:rPr lang="zh-TW" altLang="en-US" sz="1600"/>
                        <a:t>面積相同之圓的直徑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 * sqrt(area / pi)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70019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Feret Length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物件邊界任兩點最大距離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regionprops.feret_diameter_max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769912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Feret Width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物件短軸寬度估計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regionprops.minor_axis_length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368786"/>
                  </a:ext>
                </a:extLst>
              </a:tr>
              <a:tr h="396351">
                <a:tc>
                  <a:txBody>
                    <a:bodyPr/>
                    <a:lstStyle/>
                    <a:p>
                      <a:r>
                        <a:rPr lang="en-US" sz="1600"/>
                        <a:t>Aspect Ratio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長短軸比例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major_axis_length / minor_axis_length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167056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Eccentricity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橢圓離心率，越接近 </a:t>
                      </a:r>
                      <a:r>
                        <a:rPr lang="en-US" altLang="zh-TW" sz="1600"/>
                        <a:t>1 </a:t>
                      </a:r>
                      <a:r>
                        <a:rPr lang="zh-TW" altLang="en-US" sz="1600"/>
                        <a:t>越細長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regionprops.eccentricity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107209"/>
                  </a:ext>
                </a:extLst>
              </a:tr>
              <a:tr h="396351">
                <a:tc>
                  <a:txBody>
                    <a:bodyPr/>
                    <a:lstStyle/>
                    <a:p>
                      <a:r>
                        <a:rPr lang="en-US" sz="1600"/>
                        <a:t>Roundness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接近圓形的程度，使用長軸正規化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 * area / (pi * major_axis_length^2)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439816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Circularity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表面形狀接近圓形的程度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 * sqrt(pi * area) / perimeter^2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82935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Sphericity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形狀接近理想圓形的程度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 * pi * area / perimeter^2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434558"/>
                  </a:ext>
                </a:extLst>
              </a:tr>
              <a:tr h="396351">
                <a:tc>
                  <a:txBody>
                    <a:bodyPr/>
                    <a:lstStyle/>
                    <a:p>
                      <a:r>
                        <a:rPr lang="en-US" sz="1600"/>
                        <a:t>Roughness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邊界粗糙程度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Python/skimage：1 - convex_perimeter / perimeter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009245"/>
                  </a:ext>
                </a:extLst>
              </a:tr>
              <a:tr h="396351">
                <a:tc>
                  <a:txBody>
                    <a:bodyPr/>
                    <a:lstStyle/>
                    <a:p>
                      <a:r>
                        <a:rPr lang="en-US" sz="1600"/>
                        <a:t>Compactness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像素到質心距離平方平均，除以面積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mean((x-xc)^2 + (y-yc)^2) / area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800282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Karyoplasmic Ratio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核質比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Area_nuc / (Area_cyto - Area_nuc)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619309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Mean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ROI </a:t>
                      </a:r>
                      <a:r>
                        <a:rPr lang="zh-TW" altLang="en-US" sz="1600"/>
                        <a:t>平均強度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mean(values)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832404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StdDev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ROI </a:t>
                      </a:r>
                      <a:r>
                        <a:rPr lang="zh-TW" altLang="en-US" sz="1600"/>
                        <a:t>強度標準差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std(values)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226686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Min / Max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/>
                        <a:t>ROI </a:t>
                      </a:r>
                      <a:r>
                        <a:rPr lang="zh-TW" altLang="en-US" sz="1600"/>
                        <a:t>最小與最大強度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min(values) / max(values)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67928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IntDen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積分密度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area * mean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889507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RawIntDen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原始強度總和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sum(values)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802929"/>
                  </a:ext>
                </a:extLst>
              </a:tr>
              <a:tr h="251605">
                <a:tc>
                  <a:txBody>
                    <a:bodyPr/>
                    <a:lstStyle/>
                    <a:p>
                      <a:r>
                        <a:rPr lang="en-US" sz="1600"/>
                        <a:t>CV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強度變異係數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StdDev</a:t>
                      </a:r>
                      <a:r>
                        <a:rPr lang="en-US" sz="1600" dirty="0"/>
                        <a:t> / Mean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09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479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A4D2F35F-F539-45DC-9982-B6D5BE731D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029857"/>
              </p:ext>
            </p:extLst>
          </p:nvPr>
        </p:nvGraphicFramePr>
        <p:xfrm>
          <a:off x="237241" y="0"/>
          <a:ext cx="11717518" cy="6883974"/>
        </p:xfrm>
        <a:graphic>
          <a:graphicData uri="http://schemas.openxmlformats.org/drawingml/2006/table">
            <a:tbl>
              <a:tblPr/>
              <a:tblGrid>
                <a:gridCol w="3171953">
                  <a:extLst>
                    <a:ext uri="{9D8B030D-6E8A-4147-A177-3AD203B41FA5}">
                      <a16:colId xmlns:a16="http://schemas.microsoft.com/office/drawing/2014/main" val="676846465"/>
                    </a:ext>
                  </a:extLst>
                </a:gridCol>
                <a:gridCol w="2965387">
                  <a:extLst>
                    <a:ext uri="{9D8B030D-6E8A-4147-A177-3AD203B41FA5}">
                      <a16:colId xmlns:a16="http://schemas.microsoft.com/office/drawing/2014/main" val="2940754838"/>
                    </a:ext>
                  </a:extLst>
                </a:gridCol>
                <a:gridCol w="5580178">
                  <a:extLst>
                    <a:ext uri="{9D8B030D-6E8A-4147-A177-3AD203B41FA5}">
                      <a16:colId xmlns:a16="http://schemas.microsoft.com/office/drawing/2014/main" val="1424022868"/>
                    </a:ext>
                  </a:extLst>
                </a:gridCol>
              </a:tblGrid>
              <a:tr h="221492">
                <a:tc>
                  <a:txBody>
                    <a:bodyPr/>
                    <a:lstStyle/>
                    <a:p>
                      <a:r>
                        <a:rPr lang="zh-TW" altLang="en-US" sz="1600"/>
                        <a:t>特徵參數名稱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定義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程式定義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876157"/>
                  </a:ext>
                </a:extLst>
              </a:tr>
              <a:tr h="221492">
                <a:tc>
                  <a:txBody>
                    <a:bodyPr/>
                    <a:lstStyle/>
                    <a:p>
                      <a:r>
                        <a:rPr lang="en-US" sz="1600"/>
                        <a:t>Range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強度範圍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Max - Min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204173"/>
                  </a:ext>
                </a:extLst>
              </a:tr>
              <a:tr h="221492">
                <a:tc>
                  <a:txBody>
                    <a:bodyPr/>
                    <a:lstStyle/>
                    <a:p>
                      <a:r>
                        <a:rPr lang="en-US" sz="1600"/>
                        <a:t>P10 / P25 / P75 / P90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強度百分位數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np.percentile(values, [10,25,75,90])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650281"/>
                  </a:ext>
                </a:extLst>
              </a:tr>
              <a:tr h="221492">
                <a:tc>
                  <a:txBody>
                    <a:bodyPr/>
                    <a:lstStyle/>
                    <a:p>
                      <a:r>
                        <a:rPr lang="en-US" sz="1600"/>
                        <a:t>IQR80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中央 </a:t>
                      </a:r>
                      <a:r>
                        <a:rPr lang="en-US" altLang="zh-TW" sz="1600"/>
                        <a:t>80% </a:t>
                      </a:r>
                      <a:r>
                        <a:rPr lang="zh-TW" altLang="en-US" sz="1600"/>
                        <a:t>強度範圍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P90 - P10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953341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Entropy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強度分布亂度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對 </a:t>
                      </a:r>
                      <a:r>
                        <a:rPr lang="en-US" sz="1600"/>
                        <a:t>ROI intensity histogram </a:t>
                      </a:r>
                      <a:r>
                        <a:rPr lang="zh-TW" altLang="en-US" sz="1600"/>
                        <a:t>計算 </a:t>
                      </a:r>
                      <a:r>
                        <a:rPr lang="en-US" sz="1600"/>
                        <a:t>entropy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214060"/>
                  </a:ext>
                </a:extLst>
              </a:tr>
              <a:tr h="221492">
                <a:tc>
                  <a:txBody>
                    <a:bodyPr/>
                    <a:lstStyle/>
                    <a:p>
                      <a:r>
                        <a:rPr lang="en-US" sz="1600"/>
                        <a:t>Skewness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強度分布偏態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scipy.stats.skew(values)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817918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Kurtosis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強度分布峰態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scipy.stats.kurtosis(values, fisher=True)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68040"/>
                  </a:ext>
                </a:extLst>
              </a:tr>
              <a:tr h="221492">
                <a:tc>
                  <a:txBody>
                    <a:bodyPr/>
                    <a:lstStyle/>
                    <a:p>
                      <a:r>
                        <a:rPr lang="en-US" sz="1600"/>
                        <a:t>GLCM ASM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灰階共生矩陣能量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graycoprops(glcm, "ASM").mean()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63939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GLCM Contrast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紋理對比度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graycoprops(glcm, "contrast").mean()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083698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GLCM Correlation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紋理相關性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graycoprops(glcm, "correlation").mean()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059795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GLCM Difference Variance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灰階差異變異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由 </a:t>
                      </a:r>
                      <a:r>
                        <a:rPr lang="en-US" sz="1600"/>
                        <a:t>normalized GLCM </a:t>
                      </a:r>
                      <a:r>
                        <a:rPr lang="zh-TW" altLang="en-US" sz="1600"/>
                        <a:t>的 </a:t>
                      </a:r>
                      <a:r>
                        <a:rPr lang="en-US" altLang="zh-TW" sz="1600"/>
                        <a:t>|</a:t>
                      </a:r>
                      <a:r>
                        <a:rPr lang="en-US" sz="1600"/>
                        <a:t>i-j| </a:t>
                      </a:r>
                      <a:r>
                        <a:rPr lang="zh-TW" altLang="en-US" sz="1600"/>
                        <a:t>分布計算 </a:t>
                      </a:r>
                      <a:r>
                        <a:rPr lang="en-US" sz="1600"/>
                        <a:t>variance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961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GLCM Entropy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GLCM </a:t>
                      </a:r>
                      <a:r>
                        <a:rPr lang="zh-TW" altLang="en-US" sz="1600"/>
                        <a:t>亂度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-sum(p * np.log(p))，</a:t>
                      </a:r>
                      <a:r>
                        <a:rPr lang="zh-TW" altLang="en-US" sz="1600"/>
                        <a:t>使用自然對數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87350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GLCM Homogeneity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紋理均質性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graycoprops(glcm, "homogeneity").mean()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820419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 dirty="0"/>
                        <a:t>LBP Mean / </a:t>
                      </a:r>
                      <a:r>
                        <a:rPr lang="en-US" sz="1600" dirty="0" err="1"/>
                        <a:t>StdDev</a:t>
                      </a:r>
                      <a:r>
                        <a:rPr lang="en-US" sz="1600" dirty="0"/>
                        <a:t> / Entropy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局部二值紋理統計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以 </a:t>
                      </a:r>
                      <a:r>
                        <a:rPr lang="en-US" sz="1600"/>
                        <a:t>LBP </a:t>
                      </a:r>
                      <a:r>
                        <a:rPr lang="zh-TW" altLang="en-US" sz="1600"/>
                        <a:t>影像在 </a:t>
                      </a:r>
                      <a:r>
                        <a:rPr lang="en-US" sz="1600"/>
                        <a:t>ROI </a:t>
                      </a:r>
                      <a:r>
                        <a:rPr lang="zh-TW" altLang="en-US" sz="1600"/>
                        <a:t>內計算 </a:t>
                      </a:r>
                      <a:r>
                        <a:rPr lang="en-US" sz="1600"/>
                        <a:t>mean、std、entropy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918444"/>
                  </a:ext>
                </a:extLst>
              </a:tr>
              <a:tr h="221492">
                <a:tc>
                  <a:txBody>
                    <a:bodyPr/>
                    <a:lstStyle/>
                    <a:p>
                      <a:r>
                        <a:rPr lang="en-US" sz="1600"/>
                        <a:t>LBP Uniform Ratio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uniform LBP pattern </a:t>
                      </a:r>
                      <a:r>
                        <a:rPr lang="zh-TW" altLang="en-US" sz="1600"/>
                        <a:t>比例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uniform LBP pixels / ROI pixels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02048"/>
                  </a:ext>
                </a:extLst>
              </a:tr>
              <a:tr h="221492">
                <a:tc>
                  <a:txBody>
                    <a:bodyPr/>
                    <a:lstStyle/>
                    <a:p>
                      <a:r>
                        <a:rPr lang="en-US" sz="1600"/>
                        <a:t>LBP Hist Bin 00-15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LBP histogram </a:t>
                      </a:r>
                      <a:r>
                        <a:rPr lang="zh-TW" altLang="en-US" sz="1600"/>
                        <a:t>分布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16-bin normalized LBP histogram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414325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pt-BR" sz="1600"/>
                        <a:t>LBP Uniform R1/R2/R3 Hist Bin 00-09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多半徑 </a:t>
                      </a:r>
                      <a:r>
                        <a:rPr lang="en-US" sz="1600"/>
                        <a:t>uniform LBP </a:t>
                      </a:r>
                      <a:r>
                        <a:rPr lang="zh-TW" altLang="en-US" sz="1600"/>
                        <a:t>分布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radii = 1, 2, 3；</a:t>
                      </a:r>
                      <a:r>
                        <a:rPr lang="zh-TW" altLang="en-US" sz="1600"/>
                        <a:t>各自輸出 </a:t>
                      </a:r>
                      <a:r>
                        <a:rPr lang="en-US" altLang="zh-TW" sz="1600"/>
                        <a:t>10-</a:t>
                      </a:r>
                      <a:r>
                        <a:rPr lang="en-US" sz="1600"/>
                        <a:t>bin normalized histogram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944191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Tamura Coarseness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紋理粗細尺度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以多尺度 </a:t>
                      </a:r>
                      <a:r>
                        <a:rPr lang="en-US" sz="1600"/>
                        <a:t>box-filter response </a:t>
                      </a:r>
                      <a:r>
                        <a:rPr lang="zh-TW" altLang="en-US" sz="1600"/>
                        <a:t>估計最大反應尺度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33864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Zernike Moment 00-24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形狀</a:t>
                      </a:r>
                      <a:r>
                        <a:rPr lang="en-US" altLang="zh-TW" sz="1600"/>
                        <a:t>/</a:t>
                      </a:r>
                      <a:r>
                        <a:rPr lang="zh-TW" altLang="en-US" sz="1600"/>
                        <a:t>紋理矩特徵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ROI crop </a:t>
                      </a:r>
                      <a:r>
                        <a:rPr lang="zh-TW" altLang="en-US" sz="1600"/>
                        <a:t>上計算 </a:t>
                      </a:r>
                      <a:r>
                        <a:rPr lang="en-US" sz="1600"/>
                        <a:t>degree 8 Zernike moments，</a:t>
                      </a:r>
                      <a:r>
                        <a:rPr lang="zh-TW" altLang="en-US" sz="1600"/>
                        <a:t>共 </a:t>
                      </a:r>
                      <a:r>
                        <a:rPr lang="en-US" altLang="zh-TW" sz="1600"/>
                        <a:t>25 </a:t>
                      </a:r>
                      <a:r>
                        <a:rPr lang="zh-TW" altLang="en-US" sz="1600"/>
                        <a:t>維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765490"/>
                  </a:ext>
                </a:extLst>
              </a:tr>
              <a:tr h="348914">
                <a:tc>
                  <a:txBody>
                    <a:bodyPr/>
                    <a:lstStyle/>
                    <a:p>
                      <a:r>
                        <a:rPr lang="en-US" sz="1600"/>
                        <a:t>Whole Cell features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whole-cell ROI </a:t>
                      </a:r>
                      <a:r>
                        <a:rPr lang="zh-TW" altLang="en-US" sz="1600"/>
                        <a:t>的強度與紋理參數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對 </a:t>
                      </a:r>
                      <a:r>
                        <a:rPr lang="en-US" sz="1600"/>
                        <a:t>whole-cell mask </a:t>
                      </a:r>
                      <a:r>
                        <a:rPr lang="zh-TW" altLang="en-US" sz="1600"/>
                        <a:t>重複計算 </a:t>
                      </a:r>
                      <a:r>
                        <a:rPr lang="en-US" sz="1600"/>
                        <a:t>intensity + texture </a:t>
                      </a:r>
                      <a:r>
                        <a:rPr lang="zh-TW" altLang="en-US" sz="1600"/>
                        <a:t>欄位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850815"/>
                  </a:ext>
                </a:extLst>
              </a:tr>
              <a:tr h="498450">
                <a:tc>
                  <a:txBody>
                    <a:bodyPr/>
                    <a:lstStyle/>
                    <a:p>
                      <a:r>
                        <a:rPr lang="en-US" sz="1600"/>
                        <a:t>Nuc/Cyto derived ratios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核與細胞區域之強度或紋理差異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如 </a:t>
                      </a:r>
                      <a:r>
                        <a:rPr lang="en-US" sz="1600" dirty="0" err="1"/>
                        <a:t>Nuc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Cyto</a:t>
                      </a:r>
                      <a:r>
                        <a:rPr lang="en-US" sz="1600" dirty="0"/>
                        <a:t> Mean </a:t>
                      </a:r>
                      <a:r>
                        <a:rPr lang="en-US" sz="1600" dirty="0" err="1"/>
                        <a:t>Ratio、Nuc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Cyto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IntDen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Ratio、Nuc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Cyto</a:t>
                      </a:r>
                      <a:r>
                        <a:rPr lang="en-US" sz="1600" dirty="0"/>
                        <a:t> Entropy Difference</a:t>
                      </a:r>
                    </a:p>
                  </a:txBody>
                  <a:tcPr marL="28734" marR="28734" marT="14367" marB="14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123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012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780</Words>
  <Application>Microsoft Office PowerPoint</Application>
  <PresentationFormat>寬螢幕</PresentationFormat>
  <Paragraphs>146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佈景主題</vt:lpstr>
      <vt:lpstr>更新</vt:lpstr>
      <vt:lpstr>開啟專案</vt:lpstr>
      <vt:lpstr>匯入檔案</vt:lpstr>
      <vt:lpstr>分析設定</vt:lpstr>
      <vt:lpstr>分析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更新</dc:title>
  <dc:creator>黃昱翔</dc:creator>
  <cp:lastModifiedBy>黃昱翔</cp:lastModifiedBy>
  <cp:revision>8</cp:revision>
  <dcterms:created xsi:type="dcterms:W3CDTF">2026-07-07T01:45:00Z</dcterms:created>
  <dcterms:modified xsi:type="dcterms:W3CDTF">2026-07-13T03:18:37Z</dcterms:modified>
</cp:coreProperties>
</file>